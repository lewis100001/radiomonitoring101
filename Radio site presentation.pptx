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094B1-DE1D-43B9-A199-A6FDC57E2A67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C8F703-EF37-41E8-AAD6-74C3C8D1F4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3671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5EA9F-9551-A8E1-FC69-CCBF08570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F84771-83B3-0B60-412F-B6A0D2B606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53B7C-429F-B026-1F18-E341E266A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F542-273C-4A51-A442-39ED123337B9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FFDE0-33E4-070F-94CA-F5E512F58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9B269-47FF-A0A1-6D7C-676A6FC0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5B10D-327E-4496-AD09-636873EFC6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458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58F79-D2BF-1BB3-FE9D-462CDA549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CAA89-B789-A452-E1F1-F1FDE54D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72184-6838-76FB-8DE6-B1C2A7740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F542-273C-4A51-A442-39ED123337B9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15F51-BF23-4BEB-2CDC-0A4126C2D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680AB-6BD8-360E-61EE-3CE47D043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5B10D-327E-4496-AD09-636873EFC6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357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6F6D8-18B6-B114-D3EF-50E7C5B44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081FC-11C1-0BFF-D2AD-39CC5E5E4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7D1F0-2724-BF36-76CE-FA22F739D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F542-273C-4A51-A442-39ED123337B9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B4451-D626-F65B-45A2-10D7C7E44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3FEB8-1B5B-BD1A-99BA-C30E3B5D8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5B10D-327E-4496-AD09-636873EFC6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1943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2D2E1-F850-8EA0-7694-BBA1349D9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8268D-9F7D-6E52-99A9-2FF8551383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5A6A5-310F-F0EB-3583-239FE6D14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B1812-CC81-F1FD-056A-43777ABDE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F542-273C-4A51-A442-39ED123337B9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27E98B-7EF4-E96D-1DB0-BF6C351B7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E414E-EE02-38F0-1256-A2D4E9AE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5B10D-327E-4496-AD09-636873EFC6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7112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EFDB3-7E13-ADD2-00A7-A8A0EB839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71155-E75F-3201-CF81-4EAF21F1A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6F32C-D34B-7C4A-C14A-232A3CF33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E64F2F-9A72-2228-40AD-56F3835586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C6E286-A3F9-4338-ACB3-0412AB943B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76CA33-D182-5522-860A-55D52DBFE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F542-273C-4A51-A442-39ED123337B9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4422D9-7DC6-7072-542F-E300D096C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7A2C2A-EFF8-10BB-ADB7-E418DDCE3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5B10D-327E-4496-AD09-636873EFC6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478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4A30C-4834-D9F3-3E05-4DC85A3AF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5DCED7-C5DA-36CA-7182-893D43209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F542-273C-4A51-A442-39ED123337B9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0AD3EB-1A29-0254-1A35-5A3A18E4B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013AA5-632C-82C7-04E2-0A3F505E5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5B10D-327E-4496-AD09-636873EFC6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310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C35D94-48E4-69E8-5305-CBA7893F8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F542-273C-4A51-A442-39ED123337B9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35620-A589-9C4B-7DBA-3C33E6F10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2A082-4E06-5600-8F4F-FB09BC617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5B10D-327E-4496-AD09-636873EFC6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7179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BE9D-665E-AA94-09E2-14876AFAE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C3433-5781-AFBE-ACCD-71A4032F8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8DB2C6-E213-EA1B-DBF3-9B5E8F607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E423B-D0B0-2DB5-4C49-F71266548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F542-273C-4A51-A442-39ED123337B9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DAF51-82CC-BADE-D2F9-CC1169727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BF8CA-25ED-11CF-B1B4-FC4F953DC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5B10D-327E-4496-AD09-636873EFC6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1190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B15E5-A9FA-154D-A516-DEDF80D94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13CC96-D42A-3143-D893-624AF5F4BC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3D43F6-5566-B6DB-2B7B-AE4E6E9B8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F8452D-7A5C-8D58-2724-194DCD4B7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F542-273C-4A51-A442-39ED123337B9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D6F3E-FCC6-B27E-6795-79EC0CEA0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7E049-1D45-9BE0-183F-CDEE98891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5B10D-327E-4496-AD09-636873EFC6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8710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19F8A-C717-C341-09D8-325C34837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666EC-0601-6D80-30A7-97A6FB2349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DA368-E096-A92F-36C9-F44179991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F542-273C-4A51-A442-39ED123337B9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CCC0A-F1E5-344A-86F3-0F8B90753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7B195-56C1-978E-1FF9-BFD9B18B3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5B10D-327E-4496-AD09-636873EFC6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004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8EDD3F-F2EF-1F13-0CBB-AD99AB10A8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B17D68-7A10-01D9-DA85-03930AFAC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7A646-EE3E-4C56-3119-22CB7EED5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F542-273C-4A51-A442-39ED123337B9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8052E-8A18-A514-FFE7-27B223DD2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E32F6-1D03-8213-3504-C684DD1F4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5B10D-327E-4496-AD09-636873EFC6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738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4499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7DA9BE-B462-4D09-AB97-0470688F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7041C5-0BC2-7051-4910-B00C244D5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1FCA7-718C-424B-0092-0C8A01A9F3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08F542-273C-4A51-A442-39ED123337B9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86109-1FF2-428E-2DF9-CB27D9E833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9DAAB-9738-EEA7-7374-323A4EFDE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95B10D-327E-4496-AD09-636873EFC6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4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3" name="Text 1"/>
          <p:cNvSpPr/>
          <p:nvPr/>
        </p:nvSpPr>
        <p:spPr>
          <a:xfrm>
            <a:off x="609600" y="1706880"/>
            <a:ext cx="10972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 Stack</a:t>
            </a:r>
            <a:endParaRPr lang="en-US" sz="6933" dirty="0"/>
          </a:p>
        </p:txBody>
      </p:sp>
      <p:sp>
        <p:nvSpPr>
          <p:cNvPr id="4" name="Text 2"/>
          <p:cNvSpPr/>
          <p:nvPr/>
        </p:nvSpPr>
        <p:spPr>
          <a:xfrm>
            <a:off x="609600" y="310896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ODR-mmbTools · Containerised Digital Audio Broadcasting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600" y="390144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Signal Flow · SNMP Monitoring · OpenNMS Integration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609600" y="5242560"/>
            <a:ext cx="2560320" cy="10972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7" name="Text 5"/>
          <p:cNvSpPr/>
          <p:nvPr/>
        </p:nvSpPr>
        <p:spPr>
          <a:xfrm>
            <a:off x="609600" y="5303520"/>
            <a:ext cx="25603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609600" y="57546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/ Dev</a:t>
            </a:r>
            <a:endParaRPr lang="en-US" sz="1333" dirty="0"/>
          </a:p>
        </p:txBody>
      </p:sp>
      <p:sp>
        <p:nvSpPr>
          <p:cNvPr id="9" name="Shape 7"/>
          <p:cNvSpPr/>
          <p:nvPr/>
        </p:nvSpPr>
        <p:spPr>
          <a:xfrm>
            <a:off x="3535680" y="5242560"/>
            <a:ext cx="2560320" cy="10972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10" name="Text 8"/>
          <p:cNvSpPr/>
          <p:nvPr/>
        </p:nvSpPr>
        <p:spPr>
          <a:xfrm>
            <a:off x="3535680" y="5303520"/>
            <a:ext cx="25603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B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3535680" y="57546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USRP B200 RF</a:t>
            </a:r>
            <a:endParaRPr lang="en-US" sz="1333" dirty="0"/>
          </a:p>
        </p:txBody>
      </p:sp>
      <p:sp>
        <p:nvSpPr>
          <p:cNvPr id="12" name="Shape 10"/>
          <p:cNvSpPr/>
          <p:nvPr/>
        </p:nvSpPr>
        <p:spPr>
          <a:xfrm>
            <a:off x="6461760" y="5242560"/>
            <a:ext cx="2560320" cy="10972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13" name="Text 11"/>
          <p:cNvSpPr/>
          <p:nvPr/>
        </p:nvSpPr>
        <p:spPr>
          <a:xfrm>
            <a:off x="6461760" y="5303520"/>
            <a:ext cx="25603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733" dirty="0"/>
          </a:p>
        </p:txBody>
      </p:sp>
      <p:sp>
        <p:nvSpPr>
          <p:cNvPr id="14" name="Text 12"/>
          <p:cNvSpPr/>
          <p:nvPr/>
        </p:nvSpPr>
        <p:spPr>
          <a:xfrm>
            <a:off x="6461760" y="57546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containers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9387840" y="5242560"/>
            <a:ext cx="2560320" cy="10972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16" name="Text 14"/>
          <p:cNvSpPr/>
          <p:nvPr/>
        </p:nvSpPr>
        <p:spPr>
          <a:xfrm>
            <a:off x="9387840" y="5303520"/>
            <a:ext cx="25603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OpenNMS</a:t>
            </a:r>
            <a:endParaRPr lang="en-US" sz="1733" dirty="0"/>
          </a:p>
        </p:txBody>
      </p:sp>
      <p:sp>
        <p:nvSpPr>
          <p:cNvPr id="17" name="Text 15"/>
          <p:cNvSpPr/>
          <p:nvPr/>
        </p:nvSpPr>
        <p:spPr>
          <a:xfrm>
            <a:off x="9387840" y="57546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v2c</a:t>
            </a:r>
            <a:endParaRPr lang="en-US" sz="133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182880"/>
            <a:ext cx="11216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Architecture</a:t>
            </a:r>
            <a:endParaRPr lang="en-US" sz="3467" dirty="0"/>
          </a:p>
        </p:txBody>
      </p:sp>
      <p:sp>
        <p:nvSpPr>
          <p:cNvPr id="3" name="Text 1"/>
          <p:cNvSpPr/>
          <p:nvPr/>
        </p:nvSpPr>
        <p:spPr>
          <a:xfrm>
            <a:off x="487680" y="877824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four containers talk to each other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1524000"/>
            <a:ext cx="1706880" cy="877824"/>
          </a:xfrm>
          <a:prstGeom prst="roundRect">
            <a:avLst>
              <a:gd name="adj" fmla="val 8333"/>
            </a:avLst>
          </a:prstGeom>
          <a:solidFill>
            <a:srgbClr val="1A3A4A"/>
          </a:solidFill>
          <a:ln w="12700">
            <a:solidFill>
              <a:srgbClr val="90A4B7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5" name="Text 3"/>
          <p:cNvSpPr/>
          <p:nvPr/>
        </p:nvSpPr>
        <p:spPr>
          <a:xfrm>
            <a:off x="182880" y="1584960"/>
            <a:ext cx="170688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Caroline</a:t>
            </a:r>
            <a:endParaRPr lang="en-US" sz="1133" dirty="0"/>
          </a:p>
          <a:p>
            <a:pPr algn="ctr"/>
            <a:r>
              <a:rPr lang="en-US" sz="1133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:10001</a:t>
            </a:r>
            <a:endParaRPr lang="en-US" sz="1133" dirty="0"/>
          </a:p>
        </p:txBody>
      </p:sp>
      <p:sp>
        <p:nvSpPr>
          <p:cNvPr id="6" name="Shape 4"/>
          <p:cNvSpPr/>
          <p:nvPr/>
        </p:nvSpPr>
        <p:spPr>
          <a:xfrm>
            <a:off x="1889760" y="1943033"/>
            <a:ext cx="426720" cy="556325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7" name="Shape 5"/>
          <p:cNvSpPr/>
          <p:nvPr/>
        </p:nvSpPr>
        <p:spPr>
          <a:xfrm>
            <a:off x="182880" y="2804160"/>
            <a:ext cx="1706880" cy="877824"/>
          </a:xfrm>
          <a:prstGeom prst="roundRect">
            <a:avLst>
              <a:gd name="adj" fmla="val 8333"/>
            </a:avLst>
          </a:prstGeom>
          <a:solidFill>
            <a:srgbClr val="1A3A4A"/>
          </a:solidFill>
          <a:ln w="12700">
            <a:solidFill>
              <a:srgbClr val="90A4B7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8" name="Text 6"/>
          <p:cNvSpPr/>
          <p:nvPr/>
        </p:nvSpPr>
        <p:spPr>
          <a:xfrm>
            <a:off x="182880" y="2865120"/>
            <a:ext cx="170688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On Air</a:t>
            </a:r>
            <a:endParaRPr lang="en-US" sz="1133" dirty="0"/>
          </a:p>
          <a:p>
            <a:pPr algn="ctr"/>
            <a:r>
              <a:rPr lang="en-US" sz="1133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:10002</a:t>
            </a:r>
            <a:endParaRPr lang="en-US" sz="1133" dirty="0"/>
          </a:p>
        </p:txBody>
      </p:sp>
      <p:sp>
        <p:nvSpPr>
          <p:cNvPr id="9" name="Shape 7"/>
          <p:cNvSpPr/>
          <p:nvPr/>
        </p:nvSpPr>
        <p:spPr>
          <a:xfrm>
            <a:off x="1889760" y="3243072"/>
            <a:ext cx="5486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0" name="Shape 8"/>
          <p:cNvSpPr/>
          <p:nvPr/>
        </p:nvSpPr>
        <p:spPr>
          <a:xfrm>
            <a:off x="182880" y="4084320"/>
            <a:ext cx="1706880" cy="877824"/>
          </a:xfrm>
          <a:prstGeom prst="roundRect">
            <a:avLst>
              <a:gd name="adj" fmla="val 8333"/>
            </a:avLst>
          </a:prstGeom>
          <a:solidFill>
            <a:srgbClr val="1A3A4A"/>
          </a:solidFill>
          <a:ln w="12700">
            <a:solidFill>
              <a:srgbClr val="90A4B7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1" name="Text 9"/>
          <p:cNvSpPr/>
          <p:nvPr/>
        </p:nvSpPr>
        <p:spPr>
          <a:xfrm>
            <a:off x="182880" y="4145280"/>
            <a:ext cx="170688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XRadio</a:t>
            </a:r>
            <a:endParaRPr lang="en-US" sz="1133" dirty="0"/>
          </a:p>
          <a:p>
            <a:pPr algn="ctr"/>
            <a:r>
              <a:rPr lang="en-US" sz="1133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:10003</a:t>
            </a:r>
            <a:endParaRPr lang="en-US" sz="1133" dirty="0"/>
          </a:p>
        </p:txBody>
      </p:sp>
      <p:sp>
        <p:nvSpPr>
          <p:cNvPr id="12" name="Shape 10"/>
          <p:cNvSpPr/>
          <p:nvPr/>
        </p:nvSpPr>
        <p:spPr>
          <a:xfrm flipV="1">
            <a:off x="1889760" y="3560064"/>
            <a:ext cx="426718" cy="963168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3" name="Shape 11"/>
          <p:cNvSpPr/>
          <p:nvPr/>
        </p:nvSpPr>
        <p:spPr>
          <a:xfrm>
            <a:off x="2316480" y="2499360"/>
            <a:ext cx="2011680" cy="10363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14" name="Shape 12"/>
          <p:cNvSpPr/>
          <p:nvPr/>
        </p:nvSpPr>
        <p:spPr>
          <a:xfrm>
            <a:off x="2316480" y="2499360"/>
            <a:ext cx="201168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5" name="Text 13"/>
          <p:cNvSpPr/>
          <p:nvPr/>
        </p:nvSpPr>
        <p:spPr>
          <a:xfrm>
            <a:off x="2316480" y="2621280"/>
            <a:ext cx="20116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dab_encoder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316480" y="30723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ODR-AudioEnc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VLC → DAB+ EDI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28160" y="3017520"/>
            <a:ext cx="67056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8" name="Text 16"/>
          <p:cNvSpPr/>
          <p:nvPr/>
        </p:nvSpPr>
        <p:spPr>
          <a:xfrm>
            <a:off x="4364736" y="2414016"/>
            <a:ext cx="609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tcp</a:t>
            </a:r>
            <a:endParaRPr lang="en-US" sz="933" dirty="0"/>
          </a:p>
          <a:p>
            <a:pPr algn="ctr"/>
            <a:r>
              <a:rPr lang="en-US" sz="933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:10001-3</a:t>
            </a:r>
            <a:endParaRPr lang="en-US" sz="933" dirty="0"/>
          </a:p>
        </p:txBody>
      </p:sp>
      <p:sp>
        <p:nvSpPr>
          <p:cNvPr id="19" name="Shape 17"/>
          <p:cNvSpPr/>
          <p:nvPr/>
        </p:nvSpPr>
        <p:spPr>
          <a:xfrm>
            <a:off x="4998720" y="2499360"/>
            <a:ext cx="2011680" cy="10363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20" name="Shape 18"/>
          <p:cNvSpPr/>
          <p:nvPr/>
        </p:nvSpPr>
        <p:spPr>
          <a:xfrm>
            <a:off x="4998720" y="2499360"/>
            <a:ext cx="2011680" cy="8534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1" name="Text 19"/>
          <p:cNvSpPr/>
          <p:nvPr/>
        </p:nvSpPr>
        <p:spPr>
          <a:xfrm>
            <a:off x="4998720" y="2621280"/>
            <a:ext cx="20116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dab_mux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98720" y="30723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ODR-DabMux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Ensemble: Solent Uni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10400" y="3017520"/>
            <a:ext cx="67056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4" name="Text 22"/>
          <p:cNvSpPr/>
          <p:nvPr/>
        </p:nvSpPr>
        <p:spPr>
          <a:xfrm>
            <a:off x="7046976" y="2414016"/>
            <a:ext cx="609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tcp</a:t>
            </a:r>
            <a:endParaRPr lang="en-US" sz="933" dirty="0"/>
          </a:p>
          <a:p>
            <a:pPr algn="ctr"/>
            <a:r>
              <a:rPr lang="en-US" sz="933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:13000</a:t>
            </a:r>
            <a:endParaRPr lang="en-US" sz="933" dirty="0"/>
          </a:p>
        </p:txBody>
      </p:sp>
      <p:sp>
        <p:nvSpPr>
          <p:cNvPr id="25" name="Shape 23"/>
          <p:cNvSpPr/>
          <p:nvPr/>
        </p:nvSpPr>
        <p:spPr>
          <a:xfrm>
            <a:off x="7680960" y="2499360"/>
            <a:ext cx="2011680" cy="1036320"/>
          </a:xfrm>
          <a:prstGeom prst="rect">
            <a:avLst/>
          </a:prstGeom>
          <a:solidFill>
            <a:srgbClr val="1B2A3B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26" name="Shape 24"/>
          <p:cNvSpPr/>
          <p:nvPr/>
        </p:nvSpPr>
        <p:spPr>
          <a:xfrm>
            <a:off x="7680960" y="2499360"/>
            <a:ext cx="2011680" cy="8534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7" name="Text 25"/>
          <p:cNvSpPr/>
          <p:nvPr/>
        </p:nvSpPr>
        <p:spPr>
          <a:xfrm>
            <a:off x="7680960" y="2621280"/>
            <a:ext cx="20116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dab_mod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80960" y="30723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ODR-DabMod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A: /dev/null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3017520"/>
            <a:ext cx="609600" cy="0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30" name="Shape 28"/>
          <p:cNvSpPr/>
          <p:nvPr/>
        </p:nvSpPr>
        <p:spPr>
          <a:xfrm>
            <a:off x="9899904" y="2682240"/>
            <a:ext cx="1828800" cy="670560"/>
          </a:xfrm>
          <a:prstGeom prst="roundRect">
            <a:avLst>
              <a:gd name="adj" fmla="val 14545"/>
            </a:avLst>
          </a:prstGeom>
          <a:solidFill>
            <a:srgbClr val="0A2A1A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31" name="Text 29"/>
          <p:cNvSpPr/>
          <p:nvPr/>
        </p:nvSpPr>
        <p:spPr>
          <a:xfrm>
            <a:off x="9899904" y="2706624"/>
            <a:ext cx="18288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Out</a:t>
            </a:r>
            <a:endParaRPr lang="en-US" sz="1200" dirty="0"/>
          </a:p>
          <a:p>
            <a:pPr algn="ctr"/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/dev/null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" y="1280160"/>
            <a:ext cx="11643360" cy="170688"/>
          </a:xfrm>
          <a:prstGeom prst="rect">
            <a:avLst/>
          </a:prstGeom>
          <a:solidFill>
            <a:srgbClr val="0077B6">
              <a:alpha val="50000"/>
            </a:srgbClr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33" name="Text 31"/>
          <p:cNvSpPr/>
          <p:nvPr/>
        </p:nvSpPr>
        <p:spPr>
          <a:xfrm>
            <a:off x="146304" y="1024129"/>
            <a:ext cx="116433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dab_net  (internal Docker bridge)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07981" y="4315964"/>
            <a:ext cx="2011680" cy="1036320"/>
          </a:xfrm>
          <a:prstGeom prst="rect">
            <a:avLst/>
          </a:prstGeom>
          <a:solidFill>
            <a:srgbClr val="1B2A3B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35" name="Shape 33"/>
          <p:cNvSpPr/>
          <p:nvPr/>
        </p:nvSpPr>
        <p:spPr>
          <a:xfrm>
            <a:off x="6198042" y="4327233"/>
            <a:ext cx="2011680" cy="8534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36" name="Text 34"/>
          <p:cNvSpPr/>
          <p:nvPr/>
        </p:nvSpPr>
        <p:spPr>
          <a:xfrm>
            <a:off x="6217920" y="4450077"/>
            <a:ext cx="20116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dab_collector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07981" y="48341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24 + snmpd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pass_persist.py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 flipH="1">
            <a:off x="6475008" y="3535681"/>
            <a:ext cx="9943" cy="810762"/>
          </a:xfrm>
          <a:prstGeom prst="line">
            <a:avLst/>
          </a:prstGeom>
          <a:noFill/>
          <a:ln w="25400">
            <a:solidFill>
              <a:srgbClr val="FFB703"/>
            </a:solidFill>
            <a:prstDash val="dash"/>
          </a:ln>
        </p:spPr>
        <p:txBody>
          <a:bodyPr/>
          <a:lstStyle/>
          <a:p>
            <a:endParaRPr lang="en-GB" sz="2400"/>
          </a:p>
        </p:txBody>
      </p:sp>
      <p:sp>
        <p:nvSpPr>
          <p:cNvPr id="39" name="Text 37"/>
          <p:cNvSpPr/>
          <p:nvPr/>
        </p:nvSpPr>
        <p:spPr>
          <a:xfrm>
            <a:off x="6559296" y="3663694"/>
            <a:ext cx="4876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ZMQ</a:t>
            </a:r>
            <a:endParaRPr lang="en-US" sz="933" dirty="0"/>
          </a:p>
          <a:p>
            <a:r>
              <a:rPr lang="en-US" sz="933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Telnet</a:t>
            </a:r>
            <a:endParaRPr lang="en-US" sz="933" dirty="0"/>
          </a:p>
        </p:txBody>
      </p:sp>
      <p:sp>
        <p:nvSpPr>
          <p:cNvPr id="40" name="Shape 38"/>
          <p:cNvSpPr/>
          <p:nvPr/>
        </p:nvSpPr>
        <p:spPr>
          <a:xfrm flipH="1">
            <a:off x="8098405" y="3545286"/>
            <a:ext cx="0" cy="791552"/>
          </a:xfrm>
          <a:prstGeom prst="line">
            <a:avLst/>
          </a:prstGeom>
          <a:noFill/>
          <a:ln w="25400">
            <a:solidFill>
              <a:srgbClr val="FFB703"/>
            </a:solidFill>
            <a:prstDash val="dash"/>
          </a:ln>
        </p:spPr>
        <p:txBody>
          <a:bodyPr/>
          <a:lstStyle/>
          <a:p>
            <a:endParaRPr lang="en-GB" sz="2400"/>
          </a:p>
        </p:txBody>
      </p:sp>
      <p:sp>
        <p:nvSpPr>
          <p:cNvPr id="41" name="Text 39"/>
          <p:cNvSpPr/>
          <p:nvPr/>
        </p:nvSpPr>
        <p:spPr>
          <a:xfrm>
            <a:off x="8193024" y="3694637"/>
            <a:ext cx="4876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Telnet</a:t>
            </a:r>
            <a:endParaRPr lang="en-US" sz="933" dirty="0"/>
          </a:p>
          <a:p>
            <a:r>
              <a:rPr lang="en-US" sz="933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:2120</a:t>
            </a:r>
            <a:endParaRPr lang="en-US" sz="933" dirty="0"/>
          </a:p>
        </p:txBody>
      </p:sp>
      <p:sp>
        <p:nvSpPr>
          <p:cNvPr id="42" name="Shape 40"/>
          <p:cNvSpPr/>
          <p:nvPr/>
        </p:nvSpPr>
        <p:spPr>
          <a:xfrm>
            <a:off x="8209722" y="4840224"/>
            <a:ext cx="1828800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dash"/>
          </a:ln>
        </p:spPr>
        <p:txBody>
          <a:bodyPr/>
          <a:lstStyle/>
          <a:p>
            <a:endParaRPr lang="en-GB" sz="2400" dirty="0"/>
          </a:p>
        </p:txBody>
      </p:sp>
      <p:sp>
        <p:nvSpPr>
          <p:cNvPr id="43" name="Text 41"/>
          <p:cNvSpPr/>
          <p:nvPr/>
        </p:nvSpPr>
        <p:spPr>
          <a:xfrm>
            <a:off x="8436864" y="4608576"/>
            <a:ext cx="853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:161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409044" y="4369905"/>
            <a:ext cx="2255520" cy="950976"/>
          </a:xfrm>
          <a:prstGeom prst="rect">
            <a:avLst/>
          </a:prstGeom>
          <a:solidFill>
            <a:srgbClr val="1A1A35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45" name="Shape 43"/>
          <p:cNvSpPr/>
          <p:nvPr/>
        </p:nvSpPr>
        <p:spPr>
          <a:xfrm>
            <a:off x="9409044" y="4375074"/>
            <a:ext cx="2255520" cy="8534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46" name="Text 44"/>
          <p:cNvSpPr/>
          <p:nvPr/>
        </p:nvSpPr>
        <p:spPr>
          <a:xfrm>
            <a:off x="9409044" y="4513690"/>
            <a:ext cx="22555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OpenNMS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428922" y="4860102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/ Monitoring</a:t>
            </a:r>
            <a:endParaRPr lang="en-US" sz="1133" dirty="0"/>
          </a:p>
          <a:p>
            <a:pPr algn="ctr"/>
            <a:r>
              <a:rPr lang="en-US" sz="1133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machine :8980</a:t>
            </a:r>
            <a:endParaRPr lang="en-US" sz="11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182880"/>
            <a:ext cx="11216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 Signal Flow</a:t>
            </a:r>
            <a:endParaRPr lang="en-US" sz="3467" dirty="0"/>
          </a:p>
        </p:txBody>
      </p:sp>
      <p:sp>
        <p:nvSpPr>
          <p:cNvPr id="3" name="Text 1"/>
          <p:cNvSpPr/>
          <p:nvPr/>
        </p:nvSpPr>
        <p:spPr>
          <a:xfrm>
            <a:off x="487680" y="877824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internet radio stream to DAB ensemble output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04800" y="1426464"/>
            <a:ext cx="707136" cy="7071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5" name="Text 3"/>
          <p:cNvSpPr/>
          <p:nvPr/>
        </p:nvSpPr>
        <p:spPr>
          <a:xfrm>
            <a:off x="304800" y="1426464"/>
            <a:ext cx="707136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8368" y="2133600"/>
            <a:ext cx="0" cy="475488"/>
          </a:xfrm>
          <a:prstGeom prst="line">
            <a:avLst/>
          </a:prstGeom>
          <a:noFill/>
          <a:ln w="25400">
            <a:solidFill>
              <a:srgbClr val="00B4D8"/>
            </a:solidFill>
            <a:prstDash val="sysDash"/>
          </a:ln>
        </p:spPr>
        <p:txBody>
          <a:bodyPr/>
          <a:lstStyle/>
          <a:p>
            <a:endParaRPr lang="en-GB" sz="2400"/>
          </a:p>
        </p:txBody>
      </p:sp>
      <p:sp>
        <p:nvSpPr>
          <p:cNvPr id="7" name="Shape 5"/>
          <p:cNvSpPr/>
          <p:nvPr/>
        </p:nvSpPr>
        <p:spPr>
          <a:xfrm>
            <a:off x="1280160" y="1341120"/>
            <a:ext cx="10485120" cy="1072896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8" name="Shape 6"/>
          <p:cNvSpPr/>
          <p:nvPr/>
        </p:nvSpPr>
        <p:spPr>
          <a:xfrm>
            <a:off x="1280160" y="1341120"/>
            <a:ext cx="85344" cy="10728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9" name="Text 7"/>
          <p:cNvSpPr/>
          <p:nvPr/>
        </p:nvSpPr>
        <p:spPr>
          <a:xfrm>
            <a:off x="1463040" y="1402080"/>
            <a:ext cx="1011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Stream (VLC pull)</a:t>
            </a:r>
            <a:endParaRPr lang="en-US" sz="1733" dirty="0"/>
          </a:p>
        </p:txBody>
      </p:sp>
      <p:sp>
        <p:nvSpPr>
          <p:cNvPr id="10" name="Text 8"/>
          <p:cNvSpPr/>
          <p:nvPr/>
        </p:nvSpPr>
        <p:spPr>
          <a:xfrm>
            <a:off x="1463040" y="1767840"/>
            <a:ext cx="792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ODR-AudioEnc uses VLC to pull live HTTP/Icecast streams for each subchannel. Three parallel encoder instances handle Radio Caroline, Flash On Air and XRadio.</a:t>
            </a:r>
            <a:endParaRPr lang="en-US" sz="1267" dirty="0"/>
          </a:p>
        </p:txBody>
      </p:sp>
      <p:sp>
        <p:nvSpPr>
          <p:cNvPr id="11" name="Shape 9"/>
          <p:cNvSpPr/>
          <p:nvPr/>
        </p:nvSpPr>
        <p:spPr>
          <a:xfrm>
            <a:off x="9448800" y="1706880"/>
            <a:ext cx="2194560" cy="414528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2" name="Text 10"/>
          <p:cNvSpPr/>
          <p:nvPr/>
        </p:nvSpPr>
        <p:spPr>
          <a:xfrm>
            <a:off x="9448800" y="1706880"/>
            <a:ext cx="21945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bitrate 64 kbps · DAB+ · protection 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4800" y="2706624"/>
            <a:ext cx="707136" cy="70713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4" name="Text 12"/>
          <p:cNvSpPr/>
          <p:nvPr/>
        </p:nvSpPr>
        <p:spPr>
          <a:xfrm>
            <a:off x="304800" y="2706624"/>
            <a:ext cx="707136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58368" y="3413760"/>
            <a:ext cx="0" cy="475488"/>
          </a:xfrm>
          <a:prstGeom prst="line">
            <a:avLst/>
          </a:prstGeom>
          <a:noFill/>
          <a:ln w="25400">
            <a:solidFill>
              <a:srgbClr val="0077B6"/>
            </a:solidFill>
            <a:prstDash val="sysDash"/>
          </a:ln>
        </p:spPr>
        <p:txBody>
          <a:bodyPr/>
          <a:lstStyle/>
          <a:p>
            <a:endParaRPr lang="en-GB" sz="2400"/>
          </a:p>
        </p:txBody>
      </p:sp>
      <p:sp>
        <p:nvSpPr>
          <p:cNvPr id="16" name="Shape 14"/>
          <p:cNvSpPr/>
          <p:nvPr/>
        </p:nvSpPr>
        <p:spPr>
          <a:xfrm>
            <a:off x="1280160" y="2621280"/>
            <a:ext cx="10485120" cy="1072896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17" name="Shape 15"/>
          <p:cNvSpPr/>
          <p:nvPr/>
        </p:nvSpPr>
        <p:spPr>
          <a:xfrm>
            <a:off x="1280160" y="2621280"/>
            <a:ext cx="85344" cy="107289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8" name="Text 16"/>
          <p:cNvSpPr/>
          <p:nvPr/>
        </p:nvSpPr>
        <p:spPr>
          <a:xfrm>
            <a:off x="1463040" y="2682240"/>
            <a:ext cx="1011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DAB+ Encode → EDI</a:t>
            </a:r>
            <a:endParaRPr lang="en-US" sz="1733" dirty="0"/>
          </a:p>
        </p:txBody>
      </p:sp>
      <p:sp>
        <p:nvSpPr>
          <p:cNvPr id="19" name="Text 17"/>
          <p:cNvSpPr/>
          <p:nvPr/>
        </p:nvSpPr>
        <p:spPr>
          <a:xfrm>
            <a:off x="1463040" y="3048000"/>
            <a:ext cx="792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stream is AAC-LC encoded at 64 kbps, wrapped in EDI (Ensemble Data Interface) and pushed to the Mux on dedicated TCP ports 10001–10003.</a:t>
            </a:r>
            <a:endParaRPr lang="en-US" sz="1267" dirty="0"/>
          </a:p>
        </p:txBody>
      </p:sp>
      <p:sp>
        <p:nvSpPr>
          <p:cNvPr id="20" name="Shape 18"/>
          <p:cNvSpPr/>
          <p:nvPr/>
        </p:nvSpPr>
        <p:spPr>
          <a:xfrm>
            <a:off x="9448800" y="2987040"/>
            <a:ext cx="2194560" cy="414528"/>
          </a:xfrm>
          <a:prstGeom prst="rect">
            <a:avLst/>
          </a:prstGeom>
          <a:solidFill>
            <a:srgbClr val="0D1B2A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1" name="Text 19"/>
          <p:cNvSpPr/>
          <p:nvPr/>
        </p:nvSpPr>
        <p:spPr>
          <a:xfrm>
            <a:off x="9448800" y="2987040"/>
            <a:ext cx="21945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tcp push · port per subchannel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04800" y="3986784"/>
            <a:ext cx="707136" cy="70713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3" name="Text 21"/>
          <p:cNvSpPr/>
          <p:nvPr/>
        </p:nvSpPr>
        <p:spPr>
          <a:xfrm>
            <a:off x="304800" y="3986784"/>
            <a:ext cx="707136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58368" y="4693920"/>
            <a:ext cx="0" cy="475488"/>
          </a:xfrm>
          <a:prstGeom prst="line">
            <a:avLst/>
          </a:prstGeom>
          <a:noFill/>
          <a:ln w="25400">
            <a:solidFill>
              <a:srgbClr val="06D6A0"/>
            </a:solidFill>
            <a:prstDash val="sysDash"/>
          </a:ln>
        </p:spPr>
        <p:txBody>
          <a:bodyPr/>
          <a:lstStyle/>
          <a:p>
            <a:endParaRPr lang="en-GB" sz="2400"/>
          </a:p>
        </p:txBody>
      </p:sp>
      <p:sp>
        <p:nvSpPr>
          <p:cNvPr id="25" name="Shape 23"/>
          <p:cNvSpPr/>
          <p:nvPr/>
        </p:nvSpPr>
        <p:spPr>
          <a:xfrm>
            <a:off x="1280160" y="3901440"/>
            <a:ext cx="10485120" cy="1072896"/>
          </a:xfrm>
          <a:prstGeom prst="rect">
            <a:avLst/>
          </a:prstGeom>
          <a:solidFill>
            <a:srgbClr val="1B2A3B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26" name="Shape 24"/>
          <p:cNvSpPr/>
          <p:nvPr/>
        </p:nvSpPr>
        <p:spPr>
          <a:xfrm>
            <a:off x="1280160" y="3901440"/>
            <a:ext cx="85344" cy="107289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7" name="Text 25"/>
          <p:cNvSpPr/>
          <p:nvPr/>
        </p:nvSpPr>
        <p:spPr>
          <a:xfrm>
            <a:off x="1463040" y="3962400"/>
            <a:ext cx="1011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 (ODR-DabMux)</a:t>
            </a:r>
            <a:endParaRPr lang="en-US" sz="1733" dirty="0"/>
          </a:p>
        </p:txBody>
      </p:sp>
      <p:sp>
        <p:nvSpPr>
          <p:cNvPr id="28" name="Text 26"/>
          <p:cNvSpPr/>
          <p:nvPr/>
        </p:nvSpPr>
        <p:spPr>
          <a:xfrm>
            <a:off x="1463040" y="4328160"/>
            <a:ext cx="792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DabMux assembles the ensemble: combines three subchannels, injects FIG headers, applies TIST timestamps and outputs an EDI stream on port 13000 for the modulator.</a:t>
            </a:r>
            <a:endParaRPr lang="en-US" sz="1267" dirty="0"/>
          </a:p>
        </p:txBody>
      </p:sp>
      <p:sp>
        <p:nvSpPr>
          <p:cNvPr id="29" name="Shape 27"/>
          <p:cNvSpPr/>
          <p:nvPr/>
        </p:nvSpPr>
        <p:spPr>
          <a:xfrm>
            <a:off x="9448800" y="4267200"/>
            <a:ext cx="2194560" cy="414528"/>
          </a:xfrm>
          <a:prstGeom prst="rect">
            <a:avLst/>
          </a:prstGeom>
          <a:solidFill>
            <a:srgbClr val="0D1B2A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30" name="Text 28"/>
          <p:cNvSpPr/>
          <p:nvPr/>
        </p:nvSpPr>
        <p:spPr>
          <a:xfrm>
            <a:off x="9448800" y="4267200"/>
            <a:ext cx="21945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Ensemble: Solent Uni · Mode 1 · ECC 0xe1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04800" y="5266944"/>
            <a:ext cx="707136" cy="707136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32" name="Text 30"/>
          <p:cNvSpPr/>
          <p:nvPr/>
        </p:nvSpPr>
        <p:spPr>
          <a:xfrm>
            <a:off x="304800" y="5266944"/>
            <a:ext cx="707136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1280160" y="5181600"/>
            <a:ext cx="10485120" cy="1072896"/>
          </a:xfrm>
          <a:prstGeom prst="rect">
            <a:avLst/>
          </a:prstGeom>
          <a:solidFill>
            <a:srgbClr val="1B2A3B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34" name="Shape 32"/>
          <p:cNvSpPr/>
          <p:nvPr/>
        </p:nvSpPr>
        <p:spPr>
          <a:xfrm>
            <a:off x="1280160" y="5181600"/>
            <a:ext cx="85344" cy="1072896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35" name="Text 33"/>
          <p:cNvSpPr/>
          <p:nvPr/>
        </p:nvSpPr>
        <p:spPr>
          <a:xfrm>
            <a:off x="1463040" y="5242560"/>
            <a:ext cx="1011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Modulate (ODR-DabMod)</a:t>
            </a:r>
            <a:endParaRPr lang="en-US" sz="1733" dirty="0"/>
          </a:p>
        </p:txBody>
      </p:sp>
      <p:sp>
        <p:nvSpPr>
          <p:cNvPr id="36" name="Text 34"/>
          <p:cNvSpPr/>
          <p:nvPr/>
        </p:nvSpPr>
        <p:spPr>
          <a:xfrm>
            <a:off x="1463040" y="5608320"/>
            <a:ext cx="792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DabMod reads the EDI feed, applies root-raised-cosine filtering and OFDM modulation. Mode A outputs IQ samples to /dev/null; Mode B drives the USRP B200 at 229.072 MHz.</a:t>
            </a:r>
            <a:endParaRPr lang="en-US" sz="1267" dirty="0"/>
          </a:p>
        </p:txBody>
      </p:sp>
      <p:sp>
        <p:nvSpPr>
          <p:cNvPr id="37" name="Shape 35"/>
          <p:cNvSpPr/>
          <p:nvPr/>
        </p:nvSpPr>
        <p:spPr>
          <a:xfrm>
            <a:off x="9448800" y="5547360"/>
            <a:ext cx="2194560" cy="414528"/>
          </a:xfrm>
          <a:prstGeom prst="rect">
            <a:avLst/>
          </a:prstGeom>
          <a:solidFill>
            <a:srgbClr val="0D1B2A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38" name="Text 36"/>
          <p:cNvSpPr/>
          <p:nvPr/>
        </p:nvSpPr>
        <p:spPr>
          <a:xfrm>
            <a:off x="9448800" y="5547360"/>
            <a:ext cx="21945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 Mode 1 · 2.048 Msps · digital gain 0.8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182880"/>
            <a:ext cx="11216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— SNMP Bridge to OpenNMS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87680" y="877824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i="1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pass_persist.py bridges ZMQ/Telnet stats into SNMP OID space</a:t>
            </a:r>
            <a:endParaRPr lang="en-US" sz="1533" dirty="0"/>
          </a:p>
        </p:txBody>
      </p:sp>
      <p:sp>
        <p:nvSpPr>
          <p:cNvPr id="4" name="Shape 2"/>
          <p:cNvSpPr/>
          <p:nvPr/>
        </p:nvSpPr>
        <p:spPr>
          <a:xfrm>
            <a:off x="365760" y="1402080"/>
            <a:ext cx="2804160" cy="12192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5" name="Shape 3"/>
          <p:cNvSpPr/>
          <p:nvPr/>
        </p:nvSpPr>
        <p:spPr>
          <a:xfrm>
            <a:off x="365760" y="1402080"/>
            <a:ext cx="2804160" cy="8534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6" name="Text 4"/>
          <p:cNvSpPr/>
          <p:nvPr/>
        </p:nvSpPr>
        <p:spPr>
          <a:xfrm>
            <a:off x="365760" y="152400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dab_mux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365760" y="1950720"/>
            <a:ext cx="2804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ZMQ port 12720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stats / sub states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69920" y="2011680"/>
            <a:ext cx="914400" cy="0"/>
          </a:xfrm>
          <a:prstGeom prst="line">
            <a:avLst/>
          </a:prstGeom>
          <a:noFill/>
          <a:ln w="254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9" name="Shape 7"/>
          <p:cNvSpPr/>
          <p:nvPr/>
        </p:nvSpPr>
        <p:spPr>
          <a:xfrm>
            <a:off x="365760" y="3048000"/>
            <a:ext cx="2804160" cy="1219200"/>
          </a:xfrm>
          <a:prstGeom prst="rect">
            <a:avLst/>
          </a:prstGeom>
          <a:solidFill>
            <a:srgbClr val="1B2A3B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10" name="Shape 8"/>
          <p:cNvSpPr/>
          <p:nvPr/>
        </p:nvSpPr>
        <p:spPr>
          <a:xfrm>
            <a:off x="365760" y="3048000"/>
            <a:ext cx="2804160" cy="8534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1" name="Text 9"/>
          <p:cNvSpPr/>
          <p:nvPr/>
        </p:nvSpPr>
        <p:spPr>
          <a:xfrm>
            <a:off x="365760" y="316992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dab_mod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365760" y="3596640"/>
            <a:ext cx="2804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Telnet :2120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Restarts · EDI · gain · 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69920" y="3657600"/>
            <a:ext cx="914400" cy="0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4" name="Shape 12"/>
          <p:cNvSpPr/>
          <p:nvPr/>
        </p:nvSpPr>
        <p:spPr>
          <a:xfrm>
            <a:off x="4120896" y="1280160"/>
            <a:ext cx="3108960" cy="3230880"/>
          </a:xfrm>
          <a:prstGeom prst="rect">
            <a:avLst/>
          </a:prstGeom>
          <a:solidFill>
            <a:srgbClr val="142030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15" name="Shape 13"/>
          <p:cNvSpPr/>
          <p:nvPr/>
        </p:nvSpPr>
        <p:spPr>
          <a:xfrm>
            <a:off x="4120896" y="1280160"/>
            <a:ext cx="3108960" cy="1219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6" name="Text 14"/>
          <p:cNvSpPr/>
          <p:nvPr/>
        </p:nvSpPr>
        <p:spPr>
          <a:xfrm>
            <a:off x="4120896" y="1438656"/>
            <a:ext cx="31089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pass_persist.py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20896" y="1828800"/>
            <a:ext cx="3108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dab_collector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67200" y="2218944"/>
            <a:ext cx="2804160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9" name="Text 17"/>
          <p:cNvSpPr/>
          <p:nvPr/>
        </p:nvSpPr>
        <p:spPr>
          <a:xfrm>
            <a:off x="4267200" y="2218944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Poll ZMQ &amp; Telnet</a:t>
            </a:r>
            <a:endParaRPr lang="en-US" sz="1133" dirty="0"/>
          </a:p>
        </p:txBody>
      </p:sp>
      <p:sp>
        <p:nvSpPr>
          <p:cNvPr id="20" name="Shape 18"/>
          <p:cNvSpPr/>
          <p:nvPr/>
        </p:nvSpPr>
        <p:spPr>
          <a:xfrm>
            <a:off x="4267200" y="2706624"/>
            <a:ext cx="2804160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1" name="Text 19"/>
          <p:cNvSpPr/>
          <p:nvPr/>
        </p:nvSpPr>
        <p:spPr>
          <a:xfrm>
            <a:off x="4267200" y="2706624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Cache metric values</a:t>
            </a:r>
            <a:endParaRPr lang="en-US" sz="1133" dirty="0"/>
          </a:p>
        </p:txBody>
      </p:sp>
      <p:sp>
        <p:nvSpPr>
          <p:cNvPr id="22" name="Shape 20"/>
          <p:cNvSpPr/>
          <p:nvPr/>
        </p:nvSpPr>
        <p:spPr>
          <a:xfrm>
            <a:off x="4267200" y="3194304"/>
            <a:ext cx="2804160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3" name="Text 21"/>
          <p:cNvSpPr/>
          <p:nvPr/>
        </p:nvSpPr>
        <p:spPr>
          <a:xfrm>
            <a:off x="4267200" y="3194304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Serve OID GET/GETNEXT</a:t>
            </a:r>
            <a:endParaRPr lang="en-US" sz="1133" dirty="0"/>
          </a:p>
        </p:txBody>
      </p:sp>
      <p:sp>
        <p:nvSpPr>
          <p:cNvPr id="24" name="Shape 22"/>
          <p:cNvSpPr/>
          <p:nvPr/>
        </p:nvSpPr>
        <p:spPr>
          <a:xfrm>
            <a:off x="4267200" y="3681984"/>
            <a:ext cx="2804160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5" name="Text 23"/>
          <p:cNvSpPr/>
          <p:nvPr/>
        </p:nvSpPr>
        <p:spPr>
          <a:xfrm>
            <a:off x="4267200" y="3681984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snmpd pass_persist proto</a:t>
            </a:r>
            <a:endParaRPr lang="en-US" sz="1133" dirty="0"/>
          </a:p>
        </p:txBody>
      </p:sp>
      <p:sp>
        <p:nvSpPr>
          <p:cNvPr id="26" name="Shape 24"/>
          <p:cNvSpPr/>
          <p:nvPr/>
        </p:nvSpPr>
        <p:spPr>
          <a:xfrm>
            <a:off x="7229856" y="2901696"/>
            <a:ext cx="731520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7" name="Shape 25"/>
          <p:cNvSpPr/>
          <p:nvPr/>
        </p:nvSpPr>
        <p:spPr>
          <a:xfrm>
            <a:off x="7985760" y="2316480"/>
            <a:ext cx="2072640" cy="1158240"/>
          </a:xfrm>
          <a:prstGeom prst="rect">
            <a:avLst/>
          </a:prstGeom>
          <a:solidFill>
            <a:srgbClr val="1B2A3B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28" name="Text 26"/>
          <p:cNvSpPr/>
          <p:nvPr/>
        </p:nvSpPr>
        <p:spPr>
          <a:xfrm>
            <a:off x="7985760" y="2438400"/>
            <a:ext cx="207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985760" y="2804160"/>
            <a:ext cx="207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:161</a:t>
            </a:r>
            <a:endParaRPr lang="en-US" sz="1133" dirty="0"/>
          </a:p>
          <a:p>
            <a:pPr algn="ctr"/>
            <a:r>
              <a:rPr lang="en-US" sz="1133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v2c community: public</a:t>
            </a:r>
            <a:endParaRPr lang="en-US" sz="1133" dirty="0"/>
          </a:p>
        </p:txBody>
      </p:sp>
      <p:sp>
        <p:nvSpPr>
          <p:cNvPr id="30" name="Shape 28"/>
          <p:cNvSpPr/>
          <p:nvPr/>
        </p:nvSpPr>
        <p:spPr>
          <a:xfrm>
            <a:off x="10058400" y="2901696"/>
            <a:ext cx="548640" cy="0"/>
          </a:xfrm>
          <a:prstGeom prst="line">
            <a:avLst/>
          </a:prstGeom>
          <a:noFill/>
          <a:ln w="3175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31" name="Shape 29"/>
          <p:cNvSpPr/>
          <p:nvPr/>
        </p:nvSpPr>
        <p:spPr>
          <a:xfrm>
            <a:off x="10607040" y="2316480"/>
            <a:ext cx="1219200" cy="1158240"/>
          </a:xfrm>
          <a:prstGeom prst="rect">
            <a:avLst/>
          </a:prstGeom>
          <a:solidFill>
            <a:srgbClr val="1A1A35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32" name="Text 30"/>
          <p:cNvSpPr/>
          <p:nvPr/>
        </p:nvSpPr>
        <p:spPr>
          <a:xfrm>
            <a:off x="10607040" y="2499360"/>
            <a:ext cx="12192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OpenNMS</a:t>
            </a:r>
            <a:endParaRPr lang="en-US" sz="1333" dirty="0"/>
          </a:p>
        </p:txBody>
      </p:sp>
      <p:sp>
        <p:nvSpPr>
          <p:cNvPr id="33" name="Text 31"/>
          <p:cNvSpPr/>
          <p:nvPr/>
        </p:nvSpPr>
        <p:spPr>
          <a:xfrm>
            <a:off x="10607040" y="2901696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:8980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4876800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OID Tree  .1.3.6.1.4.1.8072.1.3.2.99</a:t>
            </a:r>
            <a:endParaRPr lang="en-US" sz="1467" dirty="0"/>
          </a:p>
        </p:txBody>
      </p:sp>
      <p:sp>
        <p:nvSpPr>
          <p:cNvPr id="35" name="Shape 33"/>
          <p:cNvSpPr/>
          <p:nvPr/>
        </p:nvSpPr>
        <p:spPr>
          <a:xfrm>
            <a:off x="365760" y="5340096"/>
            <a:ext cx="2743200" cy="12801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36" name="Text 34"/>
          <p:cNvSpPr/>
          <p:nvPr/>
        </p:nvSpPr>
        <p:spPr>
          <a:xfrm>
            <a:off x="365760" y="5364480"/>
            <a:ext cx="2743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.99.1.1.x</a:t>
            </a:r>
            <a:endParaRPr lang="en-US" sz="1133" dirty="0"/>
          </a:p>
        </p:txBody>
      </p:sp>
      <p:sp>
        <p:nvSpPr>
          <p:cNvPr id="37" name="Text 35"/>
          <p:cNvSpPr/>
          <p:nvPr/>
        </p:nvSpPr>
        <p:spPr>
          <a:xfrm>
            <a:off x="365760" y="56327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1: Radio Caroline</a:t>
            </a:r>
            <a:endParaRPr lang="en-US" sz="1067" dirty="0"/>
          </a:p>
        </p:txBody>
      </p:sp>
      <p:sp>
        <p:nvSpPr>
          <p:cNvPr id="38" name="Text 36"/>
          <p:cNvSpPr/>
          <p:nvPr/>
        </p:nvSpPr>
        <p:spPr>
          <a:xfrm>
            <a:off x="365760" y="5852160"/>
            <a:ext cx="274320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max/min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Underruns / Overruns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L/R dBfs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· Uptime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91840" y="5340096"/>
            <a:ext cx="2743200" cy="12801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40" name="Text 38"/>
          <p:cNvSpPr/>
          <p:nvPr/>
        </p:nvSpPr>
        <p:spPr>
          <a:xfrm>
            <a:off x="3291840" y="5364480"/>
            <a:ext cx="2743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.99.1.2.x</a:t>
            </a:r>
            <a:endParaRPr lang="en-US" sz="1133" dirty="0"/>
          </a:p>
        </p:txBody>
      </p:sp>
      <p:sp>
        <p:nvSpPr>
          <p:cNvPr id="41" name="Text 39"/>
          <p:cNvSpPr/>
          <p:nvPr/>
        </p:nvSpPr>
        <p:spPr>
          <a:xfrm>
            <a:off x="3291840" y="56327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2: Flash On Air</a:t>
            </a:r>
            <a:endParaRPr lang="en-US" sz="1067" dirty="0"/>
          </a:p>
        </p:txBody>
      </p:sp>
      <p:sp>
        <p:nvSpPr>
          <p:cNvPr id="42" name="Text 40"/>
          <p:cNvSpPr/>
          <p:nvPr/>
        </p:nvSpPr>
        <p:spPr>
          <a:xfrm>
            <a:off x="3291840" y="5852160"/>
            <a:ext cx="274320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max/min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Underruns / Overruns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L/R dBfs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· Uptime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5340096"/>
            <a:ext cx="2743200" cy="12801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44" name="Text 42"/>
          <p:cNvSpPr/>
          <p:nvPr/>
        </p:nvSpPr>
        <p:spPr>
          <a:xfrm>
            <a:off x="6217920" y="5364480"/>
            <a:ext cx="2743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.99.1.3.x</a:t>
            </a:r>
            <a:endParaRPr lang="en-US" sz="1133" dirty="0"/>
          </a:p>
        </p:txBody>
      </p:sp>
      <p:sp>
        <p:nvSpPr>
          <p:cNvPr id="45" name="Text 43"/>
          <p:cNvSpPr/>
          <p:nvPr/>
        </p:nvSpPr>
        <p:spPr>
          <a:xfrm>
            <a:off x="6217920" y="56327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3: XRadio</a:t>
            </a:r>
            <a:endParaRPr lang="en-US" sz="1067" dirty="0"/>
          </a:p>
        </p:txBody>
      </p:sp>
      <p:sp>
        <p:nvSpPr>
          <p:cNvPr id="46" name="Text 44"/>
          <p:cNvSpPr/>
          <p:nvPr/>
        </p:nvSpPr>
        <p:spPr>
          <a:xfrm>
            <a:off x="6217920" y="5852160"/>
            <a:ext cx="274320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max/min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Underruns / Overruns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L/R dBfs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· Uptime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144000" y="5340096"/>
            <a:ext cx="2743200" cy="12801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48" name="Text 46"/>
          <p:cNvSpPr/>
          <p:nvPr/>
        </p:nvSpPr>
        <p:spPr>
          <a:xfrm>
            <a:off x="9144000" y="5364480"/>
            <a:ext cx="2743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.99.2–3.x</a:t>
            </a:r>
            <a:endParaRPr lang="en-US" sz="1133" dirty="0"/>
          </a:p>
        </p:txBody>
      </p:sp>
      <p:sp>
        <p:nvSpPr>
          <p:cNvPr id="49" name="Text 47"/>
          <p:cNvSpPr/>
          <p:nvPr/>
        </p:nvSpPr>
        <p:spPr>
          <a:xfrm>
            <a:off x="9144000" y="56327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 Output + Mod</a:t>
            </a:r>
            <a:endParaRPr lang="en-US" sz="1067" dirty="0"/>
          </a:p>
        </p:txBody>
      </p:sp>
      <p:sp>
        <p:nvSpPr>
          <p:cNvPr id="50" name="Text 48"/>
          <p:cNvSpPr/>
          <p:nvPr/>
        </p:nvSpPr>
        <p:spPr>
          <a:xfrm>
            <a:off x="9144000" y="5852160"/>
            <a:ext cx="274320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connections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restarts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timestamp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· Sample rate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182880"/>
            <a:ext cx="11216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Modes</a:t>
            </a:r>
            <a:endParaRPr lang="en-US" sz="3467" dirty="0"/>
          </a:p>
        </p:txBody>
      </p:sp>
      <p:sp>
        <p:nvSpPr>
          <p:cNvPr id="3" name="Text 1"/>
          <p:cNvSpPr/>
          <p:nvPr/>
        </p:nvSpPr>
        <p:spPr>
          <a:xfrm>
            <a:off x="487680" y="877824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 — development &amp; testing · Mode B — live RF broadcast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341120"/>
            <a:ext cx="5242560" cy="8778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5" name="Text 3"/>
          <p:cNvSpPr/>
          <p:nvPr/>
        </p:nvSpPr>
        <p:spPr>
          <a:xfrm>
            <a:off x="365760" y="1365504"/>
            <a:ext cx="524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804416"/>
            <a:ext cx="5242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Only</a:t>
            </a:r>
            <a:endParaRPr lang="en-US" sz="1333" dirty="0"/>
          </a:p>
        </p:txBody>
      </p:sp>
      <p:sp>
        <p:nvSpPr>
          <p:cNvPr id="7" name="Shape 5"/>
          <p:cNvSpPr/>
          <p:nvPr/>
        </p:nvSpPr>
        <p:spPr>
          <a:xfrm>
            <a:off x="365760" y="2340864"/>
            <a:ext cx="5242560" cy="536448"/>
          </a:xfrm>
          <a:prstGeom prst="rect">
            <a:avLst/>
          </a:prstGeom>
          <a:solidFill>
            <a:srgbClr val="1B2A3B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8" name="Text 6"/>
          <p:cNvSpPr/>
          <p:nvPr/>
        </p:nvSpPr>
        <p:spPr>
          <a:xfrm>
            <a:off x="487680" y="2389632"/>
            <a:ext cx="188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238963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/ testing — no hardware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5242560" cy="536448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1" name="Text 9"/>
          <p:cNvSpPr/>
          <p:nvPr/>
        </p:nvSpPr>
        <p:spPr>
          <a:xfrm>
            <a:off x="487680" y="2974848"/>
            <a:ext cx="188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Modulator output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297484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/dev/null (IQ samples discarded)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511296"/>
            <a:ext cx="5242560" cy="536448"/>
          </a:xfrm>
          <a:prstGeom prst="rect">
            <a:avLst/>
          </a:prstGeom>
          <a:solidFill>
            <a:srgbClr val="1B2A3B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4" name="Text 12"/>
          <p:cNvSpPr/>
          <p:nvPr/>
        </p:nvSpPr>
        <p:spPr>
          <a:xfrm>
            <a:off x="487680" y="3560064"/>
            <a:ext cx="188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356006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096512"/>
            <a:ext cx="5242560" cy="536448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7" name="Text 15"/>
          <p:cNvSpPr/>
          <p:nvPr/>
        </p:nvSpPr>
        <p:spPr>
          <a:xfrm>
            <a:off x="487680" y="4145280"/>
            <a:ext cx="188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label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77440" y="414528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Solent Uni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681728"/>
            <a:ext cx="5242560" cy="536448"/>
          </a:xfrm>
          <a:prstGeom prst="rect">
            <a:avLst/>
          </a:prstGeom>
          <a:solidFill>
            <a:srgbClr val="1B2A3B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0" name="Text 18"/>
          <p:cNvSpPr/>
          <p:nvPr/>
        </p:nvSpPr>
        <p:spPr>
          <a:xfrm>
            <a:off x="487680" y="4730496"/>
            <a:ext cx="188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passthrough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77440" y="473049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5266944"/>
            <a:ext cx="5242560" cy="536448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3" name="Text 21"/>
          <p:cNvSpPr/>
          <p:nvPr/>
        </p:nvSpPr>
        <p:spPr>
          <a:xfrm>
            <a:off x="487680" y="5315712"/>
            <a:ext cx="188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77440" y="531571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 (no UHD firmware)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5852160"/>
            <a:ext cx="5242560" cy="536448"/>
          </a:xfrm>
          <a:prstGeom prst="rect">
            <a:avLst/>
          </a:prstGeom>
          <a:solidFill>
            <a:srgbClr val="1B2A3B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6" name="Text 24"/>
          <p:cNvSpPr/>
          <p:nvPr/>
        </p:nvSpPr>
        <p:spPr>
          <a:xfrm>
            <a:off x="487680" y="5900928"/>
            <a:ext cx="188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command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77440" y="590092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-f ... mode_a up -d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61760" y="1341120"/>
            <a:ext cx="5242560" cy="87782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29" name="Text 27"/>
          <p:cNvSpPr/>
          <p:nvPr/>
        </p:nvSpPr>
        <p:spPr>
          <a:xfrm>
            <a:off x="6461760" y="1365504"/>
            <a:ext cx="524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B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461760" y="1804416"/>
            <a:ext cx="5242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USRP B200 Live RF</a:t>
            </a:r>
            <a:endParaRPr lang="en-US" sz="1333" dirty="0"/>
          </a:p>
        </p:txBody>
      </p:sp>
      <p:sp>
        <p:nvSpPr>
          <p:cNvPr id="31" name="Shape 29"/>
          <p:cNvSpPr/>
          <p:nvPr/>
        </p:nvSpPr>
        <p:spPr>
          <a:xfrm>
            <a:off x="6461760" y="2340864"/>
            <a:ext cx="5242560" cy="536448"/>
          </a:xfrm>
          <a:prstGeom prst="rect">
            <a:avLst/>
          </a:prstGeom>
          <a:solidFill>
            <a:srgbClr val="1B2A3B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32" name="Text 30"/>
          <p:cNvSpPr/>
          <p:nvPr/>
        </p:nvSpPr>
        <p:spPr>
          <a:xfrm>
            <a:off x="6583680" y="2389632"/>
            <a:ext cx="188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73440" y="238963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DAB broadcast over the air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61760" y="2926080"/>
            <a:ext cx="5242560" cy="536448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35" name="Text 33"/>
          <p:cNvSpPr/>
          <p:nvPr/>
        </p:nvSpPr>
        <p:spPr>
          <a:xfrm>
            <a:off x="6583680" y="2974848"/>
            <a:ext cx="188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Modulator output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73440" y="297484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USRP B200 SDR (libuhd)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61760" y="3511296"/>
            <a:ext cx="5242560" cy="536448"/>
          </a:xfrm>
          <a:prstGeom prst="rect">
            <a:avLst/>
          </a:prstGeom>
          <a:solidFill>
            <a:srgbClr val="1B2A3B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38" name="Text 36"/>
          <p:cNvSpPr/>
          <p:nvPr/>
        </p:nvSpPr>
        <p:spPr>
          <a:xfrm>
            <a:off x="6583680" y="3560064"/>
            <a:ext cx="188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473440" y="356006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229.072 MHz — DAB Channel 12D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61760" y="4096512"/>
            <a:ext cx="5242560" cy="536448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41" name="Text 39"/>
          <p:cNvSpPr/>
          <p:nvPr/>
        </p:nvSpPr>
        <p:spPr>
          <a:xfrm>
            <a:off x="6583680" y="4145280"/>
            <a:ext cx="188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label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473440" y="414528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Solent Demo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61760" y="4681728"/>
            <a:ext cx="5242560" cy="536448"/>
          </a:xfrm>
          <a:prstGeom prst="rect">
            <a:avLst/>
          </a:prstGeom>
          <a:solidFill>
            <a:srgbClr val="1B2A3B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44" name="Text 42"/>
          <p:cNvSpPr/>
          <p:nvPr/>
        </p:nvSpPr>
        <p:spPr>
          <a:xfrm>
            <a:off x="6583680" y="4730496"/>
            <a:ext cx="188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passthrough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473440" y="473049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(/dev/bus/usb)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461760" y="5266944"/>
            <a:ext cx="5242560" cy="536448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47" name="Text 45"/>
          <p:cNvSpPr/>
          <p:nvPr/>
        </p:nvSpPr>
        <p:spPr>
          <a:xfrm>
            <a:off x="6583680" y="5315712"/>
            <a:ext cx="188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473440" y="531571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~15–20 min (UHD firmware download)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461760" y="5852160"/>
            <a:ext cx="5242560" cy="536448"/>
          </a:xfrm>
          <a:prstGeom prst="rect">
            <a:avLst/>
          </a:prstGeom>
          <a:solidFill>
            <a:srgbClr val="1B2A3B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50" name="Text 48"/>
          <p:cNvSpPr/>
          <p:nvPr/>
        </p:nvSpPr>
        <p:spPr>
          <a:xfrm>
            <a:off x="6583680" y="5900928"/>
            <a:ext cx="188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command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473440" y="590092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-f ... mode_b up -d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65760" y="6425184"/>
            <a:ext cx="11460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Only run one mode at a time — always stop the stack before switching</a:t>
            </a:r>
            <a:endParaRPr lang="en-US" sz="13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182880"/>
            <a:ext cx="11216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Ports, Health &amp; Debug</a:t>
            </a:r>
            <a:endParaRPr lang="en-US" sz="3467" dirty="0"/>
          </a:p>
        </p:txBody>
      </p:sp>
      <p:sp>
        <p:nvSpPr>
          <p:cNvPr id="3" name="Shape 1"/>
          <p:cNvSpPr/>
          <p:nvPr/>
        </p:nvSpPr>
        <p:spPr>
          <a:xfrm>
            <a:off x="365760" y="1072896"/>
            <a:ext cx="975360" cy="524256"/>
          </a:xfrm>
          <a:prstGeom prst="rect">
            <a:avLst/>
          </a:prstGeom>
          <a:solidFill>
            <a:srgbClr val="0077B6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4" name="Text 2"/>
          <p:cNvSpPr/>
          <p:nvPr/>
        </p:nvSpPr>
        <p:spPr>
          <a:xfrm>
            <a:off x="426720" y="1133856"/>
            <a:ext cx="85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267" dirty="0"/>
          </a:p>
        </p:txBody>
      </p:sp>
      <p:sp>
        <p:nvSpPr>
          <p:cNvPr id="5" name="Shape 3"/>
          <p:cNvSpPr/>
          <p:nvPr/>
        </p:nvSpPr>
        <p:spPr>
          <a:xfrm>
            <a:off x="1341120" y="1072896"/>
            <a:ext cx="792480" cy="524256"/>
          </a:xfrm>
          <a:prstGeom prst="rect">
            <a:avLst/>
          </a:prstGeom>
          <a:solidFill>
            <a:srgbClr val="0077B6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6" name="Text 4"/>
          <p:cNvSpPr/>
          <p:nvPr/>
        </p:nvSpPr>
        <p:spPr>
          <a:xfrm>
            <a:off x="1402080" y="1133856"/>
            <a:ext cx="67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</a:t>
            </a:r>
            <a:endParaRPr lang="en-US" sz="1267" dirty="0"/>
          </a:p>
        </p:txBody>
      </p:sp>
      <p:sp>
        <p:nvSpPr>
          <p:cNvPr id="7" name="Shape 5"/>
          <p:cNvSpPr/>
          <p:nvPr/>
        </p:nvSpPr>
        <p:spPr>
          <a:xfrm>
            <a:off x="2133600" y="1072896"/>
            <a:ext cx="2560320" cy="524256"/>
          </a:xfrm>
          <a:prstGeom prst="rect">
            <a:avLst/>
          </a:prstGeom>
          <a:solidFill>
            <a:srgbClr val="0077B6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8" name="Text 6"/>
          <p:cNvSpPr/>
          <p:nvPr/>
        </p:nvSpPr>
        <p:spPr>
          <a:xfrm>
            <a:off x="2194560" y="1133856"/>
            <a:ext cx="243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67" dirty="0"/>
          </a:p>
        </p:txBody>
      </p:sp>
      <p:sp>
        <p:nvSpPr>
          <p:cNvPr id="9" name="Shape 7"/>
          <p:cNvSpPr/>
          <p:nvPr/>
        </p:nvSpPr>
        <p:spPr>
          <a:xfrm>
            <a:off x="4693920" y="1072896"/>
            <a:ext cx="1524000" cy="524256"/>
          </a:xfrm>
          <a:prstGeom prst="rect">
            <a:avLst/>
          </a:prstGeom>
          <a:solidFill>
            <a:srgbClr val="0077B6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0" name="Text 8"/>
          <p:cNvSpPr/>
          <p:nvPr/>
        </p:nvSpPr>
        <p:spPr>
          <a:xfrm>
            <a:off x="4754880" y="1133856"/>
            <a:ext cx="140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to</a:t>
            </a:r>
            <a:endParaRPr lang="en-US" sz="1267" dirty="0"/>
          </a:p>
        </p:txBody>
      </p:sp>
      <p:sp>
        <p:nvSpPr>
          <p:cNvPr id="11" name="Shape 9"/>
          <p:cNvSpPr/>
          <p:nvPr/>
        </p:nvSpPr>
        <p:spPr>
          <a:xfrm>
            <a:off x="365760" y="1645920"/>
            <a:ext cx="975360" cy="524256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2" name="Text 10"/>
          <p:cNvSpPr/>
          <p:nvPr/>
        </p:nvSpPr>
        <p:spPr>
          <a:xfrm>
            <a:off x="426720" y="1706880"/>
            <a:ext cx="85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10001–3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41120" y="1645920"/>
            <a:ext cx="792480" cy="524256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4" name="Text 12"/>
          <p:cNvSpPr/>
          <p:nvPr/>
        </p:nvSpPr>
        <p:spPr>
          <a:xfrm>
            <a:off x="1402080" y="1706880"/>
            <a:ext cx="67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33600" y="1645920"/>
            <a:ext cx="2560320" cy="524256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6" name="Text 14"/>
          <p:cNvSpPr/>
          <p:nvPr/>
        </p:nvSpPr>
        <p:spPr>
          <a:xfrm>
            <a:off x="2194560" y="1706880"/>
            <a:ext cx="243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audio → mux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93920" y="1645920"/>
            <a:ext cx="1524000" cy="524256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8" name="Text 16"/>
          <p:cNvSpPr/>
          <p:nvPr/>
        </p:nvSpPr>
        <p:spPr>
          <a:xfrm>
            <a:off x="4754880" y="1706880"/>
            <a:ext cx="140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dab_net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8944"/>
            <a:ext cx="975360" cy="524256"/>
          </a:xfrm>
          <a:prstGeom prst="rect">
            <a:avLst/>
          </a:prstGeom>
          <a:solidFill>
            <a:srgbClr val="1B2A3B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0" name="Text 18"/>
          <p:cNvSpPr/>
          <p:nvPr/>
        </p:nvSpPr>
        <p:spPr>
          <a:xfrm>
            <a:off x="426720" y="2279904"/>
            <a:ext cx="85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12720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341120" y="2218944"/>
            <a:ext cx="792480" cy="524256"/>
          </a:xfrm>
          <a:prstGeom prst="rect">
            <a:avLst/>
          </a:prstGeom>
          <a:solidFill>
            <a:srgbClr val="1B2A3B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2" name="Text 20"/>
          <p:cNvSpPr/>
          <p:nvPr/>
        </p:nvSpPr>
        <p:spPr>
          <a:xfrm>
            <a:off x="1402080" y="2279904"/>
            <a:ext cx="67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133600" y="2218944"/>
            <a:ext cx="2560320" cy="524256"/>
          </a:xfrm>
          <a:prstGeom prst="rect">
            <a:avLst/>
          </a:prstGeom>
          <a:solidFill>
            <a:srgbClr val="1B2A3B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4" name="Text 22"/>
          <p:cNvSpPr/>
          <p:nvPr/>
        </p:nvSpPr>
        <p:spPr>
          <a:xfrm>
            <a:off x="2194560" y="2279904"/>
            <a:ext cx="243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 ZMQ mgmt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93920" y="2218944"/>
            <a:ext cx="1524000" cy="524256"/>
          </a:xfrm>
          <a:prstGeom prst="rect">
            <a:avLst/>
          </a:prstGeom>
          <a:solidFill>
            <a:srgbClr val="1B2A3B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6" name="Text 24"/>
          <p:cNvSpPr/>
          <p:nvPr/>
        </p:nvSpPr>
        <p:spPr>
          <a:xfrm>
            <a:off x="4754880" y="2279904"/>
            <a:ext cx="140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2791968"/>
            <a:ext cx="975360" cy="524256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8" name="Text 26"/>
          <p:cNvSpPr/>
          <p:nvPr/>
        </p:nvSpPr>
        <p:spPr>
          <a:xfrm>
            <a:off x="426720" y="2852928"/>
            <a:ext cx="85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12721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341120" y="2791968"/>
            <a:ext cx="792480" cy="524256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30" name="Text 28"/>
          <p:cNvSpPr/>
          <p:nvPr/>
        </p:nvSpPr>
        <p:spPr>
          <a:xfrm>
            <a:off x="1402080" y="2852928"/>
            <a:ext cx="67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133600" y="2791968"/>
            <a:ext cx="2560320" cy="524256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32" name="Text 30"/>
          <p:cNvSpPr/>
          <p:nvPr/>
        </p:nvSpPr>
        <p:spPr>
          <a:xfrm>
            <a:off x="2194560" y="2852928"/>
            <a:ext cx="243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 Telnet ctrl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93920" y="2791968"/>
            <a:ext cx="1524000" cy="524256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34" name="Text 32"/>
          <p:cNvSpPr/>
          <p:nvPr/>
        </p:nvSpPr>
        <p:spPr>
          <a:xfrm>
            <a:off x="4754880" y="2852928"/>
            <a:ext cx="140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3364992"/>
            <a:ext cx="975360" cy="524256"/>
          </a:xfrm>
          <a:prstGeom prst="rect">
            <a:avLst/>
          </a:prstGeom>
          <a:solidFill>
            <a:srgbClr val="1B2A3B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36" name="Text 34"/>
          <p:cNvSpPr/>
          <p:nvPr/>
        </p:nvSpPr>
        <p:spPr>
          <a:xfrm>
            <a:off x="426720" y="3425952"/>
            <a:ext cx="85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13000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341120" y="3364992"/>
            <a:ext cx="792480" cy="524256"/>
          </a:xfrm>
          <a:prstGeom prst="rect">
            <a:avLst/>
          </a:prstGeom>
          <a:solidFill>
            <a:srgbClr val="1B2A3B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38" name="Text 36"/>
          <p:cNvSpPr/>
          <p:nvPr/>
        </p:nvSpPr>
        <p:spPr>
          <a:xfrm>
            <a:off x="1402080" y="3425952"/>
            <a:ext cx="67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133600" y="3364992"/>
            <a:ext cx="2560320" cy="524256"/>
          </a:xfrm>
          <a:prstGeom prst="rect">
            <a:avLst/>
          </a:prstGeom>
          <a:solidFill>
            <a:srgbClr val="1B2A3B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40" name="Text 38"/>
          <p:cNvSpPr/>
          <p:nvPr/>
        </p:nvSpPr>
        <p:spPr>
          <a:xfrm>
            <a:off x="2194560" y="3425952"/>
            <a:ext cx="243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mux → mod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693920" y="3364992"/>
            <a:ext cx="1524000" cy="524256"/>
          </a:xfrm>
          <a:prstGeom prst="rect">
            <a:avLst/>
          </a:prstGeom>
          <a:solidFill>
            <a:srgbClr val="1B2A3B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42" name="Text 40"/>
          <p:cNvSpPr/>
          <p:nvPr/>
        </p:nvSpPr>
        <p:spPr>
          <a:xfrm>
            <a:off x="4754880" y="3425952"/>
            <a:ext cx="140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dab_net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" y="3938016"/>
            <a:ext cx="975360" cy="524256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44" name="Text 42"/>
          <p:cNvSpPr/>
          <p:nvPr/>
        </p:nvSpPr>
        <p:spPr>
          <a:xfrm>
            <a:off x="426720" y="3998976"/>
            <a:ext cx="85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341120" y="3938016"/>
            <a:ext cx="792480" cy="524256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46" name="Text 44"/>
          <p:cNvSpPr/>
          <p:nvPr/>
        </p:nvSpPr>
        <p:spPr>
          <a:xfrm>
            <a:off x="1402080" y="3998976"/>
            <a:ext cx="67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133600" y="3938016"/>
            <a:ext cx="2560320" cy="524256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48" name="Text 46"/>
          <p:cNvSpPr/>
          <p:nvPr/>
        </p:nvSpPr>
        <p:spPr>
          <a:xfrm>
            <a:off x="2194560" y="3998976"/>
            <a:ext cx="243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Telnet ctrl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693920" y="3938016"/>
            <a:ext cx="1524000" cy="524256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50" name="Text 48"/>
          <p:cNvSpPr/>
          <p:nvPr/>
        </p:nvSpPr>
        <p:spPr>
          <a:xfrm>
            <a:off x="4754880" y="3998976"/>
            <a:ext cx="140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65760" y="4511040"/>
            <a:ext cx="975360" cy="524256"/>
          </a:xfrm>
          <a:prstGeom prst="rect">
            <a:avLst/>
          </a:prstGeom>
          <a:solidFill>
            <a:srgbClr val="1B2A3B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52" name="Text 50"/>
          <p:cNvSpPr/>
          <p:nvPr/>
        </p:nvSpPr>
        <p:spPr>
          <a:xfrm>
            <a:off x="426720" y="4572000"/>
            <a:ext cx="85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9400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341120" y="4511040"/>
            <a:ext cx="792480" cy="524256"/>
          </a:xfrm>
          <a:prstGeom prst="rect">
            <a:avLst/>
          </a:prstGeom>
          <a:solidFill>
            <a:srgbClr val="1B2A3B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54" name="Text 52"/>
          <p:cNvSpPr/>
          <p:nvPr/>
        </p:nvSpPr>
        <p:spPr>
          <a:xfrm>
            <a:off x="1402080" y="4572000"/>
            <a:ext cx="67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133600" y="4511040"/>
            <a:ext cx="2560320" cy="524256"/>
          </a:xfrm>
          <a:prstGeom prst="rect">
            <a:avLst/>
          </a:prstGeom>
          <a:solidFill>
            <a:srgbClr val="1B2A3B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56" name="Text 54"/>
          <p:cNvSpPr/>
          <p:nvPr/>
        </p:nvSpPr>
        <p:spPr>
          <a:xfrm>
            <a:off x="2194560" y="4572000"/>
            <a:ext cx="243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ZMQ ctrl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693920" y="4511040"/>
            <a:ext cx="1524000" cy="524256"/>
          </a:xfrm>
          <a:prstGeom prst="rect">
            <a:avLst/>
          </a:prstGeom>
          <a:solidFill>
            <a:srgbClr val="1B2A3B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58" name="Text 56"/>
          <p:cNvSpPr/>
          <p:nvPr/>
        </p:nvSpPr>
        <p:spPr>
          <a:xfrm>
            <a:off x="4754880" y="4572000"/>
            <a:ext cx="140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65760" y="5084064"/>
            <a:ext cx="975360" cy="524256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60" name="Text 58"/>
          <p:cNvSpPr/>
          <p:nvPr/>
        </p:nvSpPr>
        <p:spPr>
          <a:xfrm>
            <a:off x="426720" y="5145024"/>
            <a:ext cx="85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1341120" y="5084064"/>
            <a:ext cx="792480" cy="524256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62" name="Text 60"/>
          <p:cNvSpPr/>
          <p:nvPr/>
        </p:nvSpPr>
        <p:spPr>
          <a:xfrm>
            <a:off x="1402080" y="5145024"/>
            <a:ext cx="67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2133600" y="5084064"/>
            <a:ext cx="2560320" cy="524256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64" name="Text 62"/>
          <p:cNvSpPr/>
          <p:nvPr/>
        </p:nvSpPr>
        <p:spPr>
          <a:xfrm>
            <a:off x="2194560" y="5145024"/>
            <a:ext cx="243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(collector)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693920" y="5084064"/>
            <a:ext cx="1524000" cy="524256"/>
          </a:xfrm>
          <a:prstGeom prst="rect">
            <a:avLst/>
          </a:prstGeom>
          <a:solidFill>
            <a:srgbClr val="0D1B2A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66" name="Text 64"/>
          <p:cNvSpPr/>
          <p:nvPr/>
        </p:nvSpPr>
        <p:spPr>
          <a:xfrm>
            <a:off x="4754880" y="5145024"/>
            <a:ext cx="140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dab_net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461760" y="99974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Debug</a:t>
            </a:r>
            <a:endParaRPr lang="en-US" sz="1733" dirty="0"/>
          </a:p>
        </p:txBody>
      </p:sp>
      <p:sp>
        <p:nvSpPr>
          <p:cNvPr id="68" name="Text 66"/>
          <p:cNvSpPr/>
          <p:nvPr/>
        </p:nvSpPr>
        <p:spPr>
          <a:xfrm>
            <a:off x="6461760" y="14630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stats snapshot</a:t>
            </a:r>
            <a:endParaRPr lang="en-US" sz="1267" dirty="0"/>
          </a:p>
        </p:txBody>
      </p:sp>
      <p:sp>
        <p:nvSpPr>
          <p:cNvPr id="69" name="Shape 67"/>
          <p:cNvSpPr/>
          <p:nvPr/>
        </p:nvSpPr>
        <p:spPr>
          <a:xfrm>
            <a:off x="6461760" y="1755648"/>
            <a:ext cx="5303520" cy="585216"/>
          </a:xfrm>
          <a:prstGeom prst="rect">
            <a:avLst/>
          </a:prstGeom>
          <a:solidFill>
            <a:srgbClr val="0A152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70" name="Text 68"/>
          <p:cNvSpPr/>
          <p:nvPr/>
        </p:nvSpPr>
        <p:spPr>
          <a:xfrm>
            <a:off x="6559296" y="1780032"/>
            <a:ext cx="512064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dab_collector</a:t>
            </a:r>
            <a:endParaRPr lang="en-US" sz="1067" dirty="0"/>
          </a:p>
          <a:p>
            <a:r>
              <a:rPr lang="en-US" sz="1067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python3 /collector/debug.py</a:t>
            </a:r>
            <a:endParaRPr lang="en-US" sz="1067" dirty="0"/>
          </a:p>
        </p:txBody>
      </p:sp>
      <p:sp>
        <p:nvSpPr>
          <p:cNvPr id="71" name="Text 69"/>
          <p:cNvSpPr/>
          <p:nvPr/>
        </p:nvSpPr>
        <p:spPr>
          <a:xfrm>
            <a:off x="6461760" y="248716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loop (5 s)</a:t>
            </a:r>
            <a:endParaRPr lang="en-US" sz="1267" dirty="0"/>
          </a:p>
        </p:txBody>
      </p:sp>
      <p:sp>
        <p:nvSpPr>
          <p:cNvPr id="72" name="Shape 70"/>
          <p:cNvSpPr/>
          <p:nvPr/>
        </p:nvSpPr>
        <p:spPr>
          <a:xfrm>
            <a:off x="6461760" y="2779776"/>
            <a:ext cx="5303520" cy="585216"/>
          </a:xfrm>
          <a:prstGeom prst="rect">
            <a:avLst/>
          </a:prstGeom>
          <a:solidFill>
            <a:srgbClr val="0A152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73" name="Text 71"/>
          <p:cNvSpPr/>
          <p:nvPr/>
        </p:nvSpPr>
        <p:spPr>
          <a:xfrm>
            <a:off x="6559296" y="2804160"/>
            <a:ext cx="512064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dab_collector</a:t>
            </a:r>
            <a:endParaRPr lang="en-US" sz="1067" dirty="0"/>
          </a:p>
          <a:p>
            <a:r>
              <a:rPr lang="en-US" sz="1067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python3 /collector/debug.py --loop 5</a:t>
            </a:r>
            <a:endParaRPr lang="en-US" sz="1067" dirty="0"/>
          </a:p>
        </p:txBody>
      </p:sp>
      <p:sp>
        <p:nvSpPr>
          <p:cNvPr id="74" name="Text 72"/>
          <p:cNvSpPr/>
          <p:nvPr/>
        </p:nvSpPr>
        <p:spPr>
          <a:xfrm>
            <a:off x="6461760" y="351129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walk (DAB tree)</a:t>
            </a:r>
            <a:endParaRPr lang="en-US" sz="1267" dirty="0"/>
          </a:p>
        </p:txBody>
      </p:sp>
      <p:sp>
        <p:nvSpPr>
          <p:cNvPr id="75" name="Shape 73"/>
          <p:cNvSpPr/>
          <p:nvPr/>
        </p:nvSpPr>
        <p:spPr>
          <a:xfrm>
            <a:off x="6461760" y="3803904"/>
            <a:ext cx="5303520" cy="585216"/>
          </a:xfrm>
          <a:prstGeom prst="rect">
            <a:avLst/>
          </a:prstGeom>
          <a:solidFill>
            <a:srgbClr val="0A152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76" name="Text 74"/>
          <p:cNvSpPr/>
          <p:nvPr/>
        </p:nvSpPr>
        <p:spPr>
          <a:xfrm>
            <a:off x="6559296" y="3828288"/>
            <a:ext cx="512064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snmpwalk -v2c -c public &lt;IP&gt;</a:t>
            </a:r>
            <a:endParaRPr lang="en-US" sz="1067" dirty="0"/>
          </a:p>
          <a:p>
            <a:r>
              <a:rPr lang="en-US" sz="1067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.1.3.6.1.4.1.8072.1.3.2.99</a:t>
            </a:r>
            <a:endParaRPr lang="en-US" sz="1067" dirty="0"/>
          </a:p>
        </p:txBody>
      </p:sp>
      <p:sp>
        <p:nvSpPr>
          <p:cNvPr id="77" name="Text 75"/>
          <p:cNvSpPr/>
          <p:nvPr/>
        </p:nvSpPr>
        <p:spPr>
          <a:xfrm>
            <a:off x="6461760" y="453542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Subchannel 1 state</a:t>
            </a:r>
            <a:endParaRPr lang="en-US" sz="1267" dirty="0"/>
          </a:p>
        </p:txBody>
      </p:sp>
      <p:sp>
        <p:nvSpPr>
          <p:cNvPr id="78" name="Shape 76"/>
          <p:cNvSpPr/>
          <p:nvPr/>
        </p:nvSpPr>
        <p:spPr>
          <a:xfrm>
            <a:off x="6461760" y="4828032"/>
            <a:ext cx="5303520" cy="585216"/>
          </a:xfrm>
          <a:prstGeom prst="rect">
            <a:avLst/>
          </a:prstGeom>
          <a:solidFill>
            <a:srgbClr val="0A152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79" name="Text 77"/>
          <p:cNvSpPr/>
          <p:nvPr/>
        </p:nvSpPr>
        <p:spPr>
          <a:xfrm>
            <a:off x="6559296" y="4852416"/>
            <a:ext cx="512064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snmpget -v2c -c public &lt;IP&gt;</a:t>
            </a:r>
            <a:endParaRPr lang="en-US" sz="1067" dirty="0"/>
          </a:p>
          <a:p>
            <a:r>
              <a:rPr lang="en-US" sz="1067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.1.3.6.1.4.1.8072.1.3.2.99.1.1.7</a:t>
            </a:r>
            <a:endParaRPr lang="en-US" sz="1067" dirty="0"/>
          </a:p>
        </p:txBody>
      </p:sp>
      <p:sp>
        <p:nvSpPr>
          <p:cNvPr id="80" name="Text 78"/>
          <p:cNvSpPr/>
          <p:nvPr/>
        </p:nvSpPr>
        <p:spPr>
          <a:xfrm>
            <a:off x="6461760" y="555955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mux logs</a:t>
            </a:r>
            <a:endParaRPr lang="en-US" sz="1267" dirty="0"/>
          </a:p>
        </p:txBody>
      </p:sp>
      <p:sp>
        <p:nvSpPr>
          <p:cNvPr id="81" name="Shape 79"/>
          <p:cNvSpPr/>
          <p:nvPr/>
        </p:nvSpPr>
        <p:spPr>
          <a:xfrm>
            <a:off x="6461760" y="5852160"/>
            <a:ext cx="5303520" cy="585216"/>
          </a:xfrm>
          <a:prstGeom prst="rect">
            <a:avLst/>
          </a:prstGeom>
          <a:solidFill>
            <a:srgbClr val="0A152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82" name="Text 80"/>
          <p:cNvSpPr/>
          <p:nvPr/>
        </p:nvSpPr>
        <p:spPr>
          <a:xfrm>
            <a:off x="6559296" y="5876544"/>
            <a:ext cx="512064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-f dab_mux</a:t>
            </a:r>
            <a:endParaRPr lang="en-US" sz="1067" dirty="0"/>
          </a:p>
        </p:txBody>
      </p:sp>
      <p:sp>
        <p:nvSpPr>
          <p:cNvPr id="83" name="Text 81"/>
          <p:cNvSpPr/>
          <p:nvPr/>
        </p:nvSpPr>
        <p:spPr>
          <a:xfrm>
            <a:off x="365760" y="5754624"/>
            <a:ext cx="58521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Values</a:t>
            </a:r>
            <a:endParaRPr lang="en-US" sz="1333" dirty="0"/>
          </a:p>
        </p:txBody>
      </p:sp>
      <p:sp>
        <p:nvSpPr>
          <p:cNvPr id="84" name="Shape 82"/>
          <p:cNvSpPr/>
          <p:nvPr/>
        </p:nvSpPr>
        <p:spPr>
          <a:xfrm>
            <a:off x="365760" y="6071616"/>
            <a:ext cx="2926080" cy="341376"/>
          </a:xfrm>
          <a:prstGeom prst="rect">
            <a:avLst/>
          </a:prstGeom>
          <a:solidFill>
            <a:srgbClr val="1B2A3B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85" name="Text 83"/>
          <p:cNvSpPr/>
          <p:nvPr/>
        </p:nvSpPr>
        <p:spPr>
          <a:xfrm>
            <a:off x="426720" y="6096000"/>
            <a:ext cx="158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Subchannel state: 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011680" y="6096000"/>
            <a:ext cx="121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3474720" y="6071616"/>
            <a:ext cx="2926080" cy="341376"/>
          </a:xfrm>
          <a:prstGeom prst="rect">
            <a:avLst/>
          </a:prstGeom>
          <a:solidFill>
            <a:srgbClr val="1B2A3B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88" name="Text 86"/>
          <p:cNvSpPr/>
          <p:nvPr/>
        </p:nvSpPr>
        <p:spPr>
          <a:xfrm>
            <a:off x="3535680" y="6096000"/>
            <a:ext cx="158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fill: 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5120640" y="6096000"/>
            <a:ext cx="121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prebuffering threshold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365760" y="6486144"/>
            <a:ext cx="2926080" cy="341376"/>
          </a:xfrm>
          <a:prstGeom prst="rect">
            <a:avLst/>
          </a:prstGeom>
          <a:solidFill>
            <a:srgbClr val="1B2A3B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91" name="Text 89"/>
          <p:cNvSpPr/>
          <p:nvPr/>
        </p:nvSpPr>
        <p:spPr>
          <a:xfrm>
            <a:off x="426720" y="6510528"/>
            <a:ext cx="158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Underruns / Overruns: 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2011680" y="6510528"/>
            <a:ext cx="121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3474720" y="6486144"/>
            <a:ext cx="2926080" cy="341376"/>
          </a:xfrm>
          <a:prstGeom prst="rect">
            <a:avLst/>
          </a:prstGeom>
          <a:solidFill>
            <a:srgbClr val="1B2A3B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94" name="Text 92"/>
          <p:cNvSpPr/>
          <p:nvPr/>
        </p:nvSpPr>
        <p:spPr>
          <a:xfrm>
            <a:off x="3535680" y="6510528"/>
            <a:ext cx="158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0A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restarts: 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5120640" y="6510528"/>
            <a:ext cx="121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836</Words>
  <Application>Microsoft Office PowerPoint</Application>
  <PresentationFormat>Widescreen</PresentationFormat>
  <Paragraphs>207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Ciobră</dc:creator>
  <cp:lastModifiedBy>Sebastian Ciobră</cp:lastModifiedBy>
  <cp:revision>1</cp:revision>
  <dcterms:created xsi:type="dcterms:W3CDTF">2026-05-14T08:07:43Z</dcterms:created>
  <dcterms:modified xsi:type="dcterms:W3CDTF">2026-05-14T08:30:57Z</dcterms:modified>
</cp:coreProperties>
</file>